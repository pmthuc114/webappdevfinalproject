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4516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Good morning/afternoon everyone. We are Minh Thuc and Dang Khoa. Today we will present our Online Shoes Store web application.</a:t>
            </a:r>
          </a:p>
          <a:p>
            <a:endParaRPr/>
          </a:p>
          <a:p>
            <a:r>
              <a:t>Speaker B (Dang Khoa):</a:t>
            </a:r>
          </a:p>
          <a:p>
            <a:r>
              <a:t>After the overview, we will demonstrate key user flows and the admin management features.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I will start with the overview, tech stack, architecture, and design diagrams.</a:t>
            </a:r>
          </a:p>
          <a:p>
            <a:endParaRPr/>
          </a:p>
          <a:p>
            <a:r>
              <a:t>Speaker B (Dang Khoa):</a:t>
            </a:r>
          </a:p>
          <a:p>
            <a:r>
              <a:t>Then I will cover implementation highlights, demo plan, and conclude with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This project provides a complete online shopping experience: account creation, product browsing, cart management, checkout, and order history.</a:t>
            </a:r>
          </a:p>
          <a:p>
            <a:endParaRPr/>
          </a:p>
          <a:p>
            <a:r>
              <a:t>Speaker B (Dang Khoa):</a:t>
            </a:r>
          </a:p>
          <a:p>
            <a:r>
              <a:t>On the right is the high-level architecture: React client calls Express APIs, data is stored in MongoDB, and product images are stored in Cloudinary.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We used the MERN stack. MongoDB stores the main collections, Express and Node expose RESTful endpoints, and React renders the UI as a single-page application.</a:t>
            </a:r>
          </a:p>
          <a:p>
            <a:endParaRPr/>
          </a:p>
          <a:p>
            <a:r>
              <a:t>Speaker B (Dang Khoa):</a:t>
            </a:r>
          </a:p>
          <a:p>
            <a:r>
              <a:t>For UI we used Tailwind. For images we used Cloudinary. For security, we used JWT tokens and protected routes for admin-only pages.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This diagram shows three actors: Visitor (Guest), Customer (logged-in user), and Admin. Guests can browse products, filter by brand, view details, register, and log in. Customers can additionally manage the cart, checkout, view their orders, and change password. Admins manage users, products, and orders.</a:t>
            </a:r>
          </a:p>
          <a:p>
            <a:endParaRPr/>
          </a:p>
          <a:p>
            <a:r>
              <a:t>Speaker B (Dang Khoa):</a:t>
            </a:r>
          </a:p>
          <a:p>
            <a:r>
              <a:t>Notice the &lt;&lt;include&gt;&gt; relationships: 'Manage Cart' includes add/update/remove/clear; and 'Place Order' includes viewing the cart and entering delivery info. Admin management is also decomposed into create/update/delete sub-actions.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Our database focuses on four core collections: User, Product, Cart, and Order. Cart and Order each have line-item structures to store multiple products with options like size and color.</a:t>
            </a:r>
          </a:p>
          <a:p>
            <a:endParaRPr/>
          </a:p>
          <a:p>
            <a:r>
              <a:t>Speaker B (Dang Khoa):</a:t>
            </a:r>
          </a:p>
          <a:p>
            <a:r>
              <a:t>This design separates master data (User, Product) from transaction data (Cart/Order). It supports many items per cart/order while keeping queries straightforward.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On the left are the main user functions: authentication and product browsing. After registration, the user logs in and receives a JWT token for secured requests.</a:t>
            </a:r>
          </a:p>
          <a:p>
            <a:endParaRPr/>
          </a:p>
          <a:p>
            <a:r>
              <a:t>Speaker B (Dang Khoa):</a:t>
            </a:r>
          </a:p>
          <a:p>
            <a:r>
              <a:t>On the right are screenshots: register page, login page, and a brand page showing filtered products.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This slide focuses on the shopping flow: users can manage the cart and then proceed to checkout.</a:t>
            </a:r>
          </a:p>
          <a:p>
            <a:endParaRPr/>
          </a:p>
          <a:p>
            <a:r>
              <a:t>Speaker B (Dang Khoa):</a:t>
            </a:r>
          </a:p>
          <a:p>
            <a:r>
              <a:t>The cart supports updating quantity and product options. The checkout form collects delivery information and creates an order in the database.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After checkout, the user is redirected to My Orders. This page calls the backend to retrieve orders by user ID.</a:t>
            </a:r>
          </a:p>
          <a:p>
            <a:endParaRPr/>
          </a:p>
          <a:p>
            <a:r>
              <a:t>Speaker B (Dang Khoa):</a:t>
            </a:r>
          </a:p>
          <a:p>
            <a:r>
              <a:t>The status field supports basic order tracking and can be updated by the admin.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Admins have a dedicated dashboard. They can manage accounts, products, and orders. Product management also supports image upload.</a:t>
            </a:r>
          </a:p>
          <a:p>
            <a:endParaRPr/>
          </a:p>
          <a:p>
            <a:r>
              <a:t>Speaker B (Dang Khoa):</a:t>
            </a:r>
          </a:p>
          <a:p>
            <a:r>
              <a:t>All admin routes are protected: the backend verifies the JWT token, and the frontend uses role-based private routes to restrict access.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We separated concerns using an API layer on the frontend and routes/controllers on the backend. Each UI action maps to an API request.</a:t>
            </a:r>
          </a:p>
          <a:p>
            <a:endParaRPr/>
          </a:p>
          <a:p>
            <a:r>
              <a:t>Speaker B (Dang Khoa):</a:t>
            </a:r>
          </a:p>
          <a:p>
            <a:r>
              <a:t>For example: Add to cart triggers a PUT request to /api/cart/:userId, handled by cartRoute and cartController, and updates the cart in MongoDB. Security is enforced by JWT authentication middleware and admin role checks.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In the live demo we will first show the customer journey end-to-end. Then we will switch to the admin account and show management features.</a:t>
            </a:r>
          </a:p>
          <a:p>
            <a:endParaRPr/>
          </a:p>
          <a:p>
            <a:r>
              <a:t>Speaker B (Dang Khoa):</a:t>
            </a:r>
          </a:p>
          <a:p>
            <a:r>
              <a:t>We tested each core use case manually on the UI and verified key API endpoints with tools like Postman.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The main difficulties were NoSQL design for line items, secure authentication/authorization, and Cloudinary integration.</a:t>
            </a:r>
          </a:p>
          <a:p>
            <a:endParaRPr/>
          </a:p>
          <a:p>
            <a:r>
              <a:t>Speaker B (Dang Khoa):</a:t>
            </a:r>
          </a:p>
          <a:p>
            <a:r>
              <a:t>With more time, we want to add online payment, stronger search/filtering, admin analytics, and notifications.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(Minh Thuc):</a:t>
            </a:r>
          </a:p>
          <a:p>
            <a:r>
              <a:t>Summarize the value and close the presentation.</a:t>
            </a:r>
          </a:p>
          <a:p>
            <a:endParaRPr/>
          </a:p>
          <a:p>
            <a:r>
              <a:t>Speaker B (Dang Khoa):</a:t>
            </a:r>
          </a:p>
          <a:p>
            <a:r>
              <a:t>Invite questions and be ready to open the demo if requested.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120640"/>
            <a:ext cx="12191695" cy="17373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728655" cy="1188720"/>
          </a:xfrm>
          <a:prstGeom prst="rect">
            <a:avLst/>
          </a:prstGeom>
          <a:noFill/>
        </p:spPr>
        <p:txBody>
          <a:bodyPr wrap="none">
            <a:spAutoFit/>
          </a:bodyPr>
          <a:lstStyle/>
          <a:p>
            <a:r>
              <a:rPr sz="4600" b="1">
                <a:solidFill>
                  <a:srgbClr val="212121"/>
                </a:solidFill>
                <a:latin typeface="Calibri"/>
              </a:rPr>
              <a:t>ONLINE SHOES STORE
Web Application</a:t>
            </a:r>
          </a:p>
        </p:txBody>
      </p:sp>
      <p:sp>
        <p:nvSpPr>
          <p:cNvPr id="6" name="TextBox 5"/>
          <p:cNvSpPr txBox="1"/>
          <p:nvPr/>
        </p:nvSpPr>
        <p:spPr>
          <a:xfrm>
            <a:off x="731520" y="3246120"/>
            <a:ext cx="10728655" cy="731520"/>
          </a:xfrm>
          <a:prstGeom prst="rect">
            <a:avLst/>
          </a:prstGeom>
          <a:noFill/>
        </p:spPr>
        <p:txBody>
          <a:bodyPr wrap="none">
            <a:spAutoFit/>
          </a:bodyPr>
          <a:lstStyle/>
          <a:p>
            <a:r>
              <a:rPr sz="2200">
                <a:solidFill>
                  <a:srgbClr val="464646"/>
                </a:solidFill>
                <a:latin typeface="Calibri"/>
              </a:rPr>
              <a:t>Web Application Development Project (MERN Stack)</a:t>
            </a:r>
          </a:p>
        </p:txBody>
      </p:sp>
      <p:sp>
        <p:nvSpPr>
          <p:cNvPr id="7" name="TextBox 6"/>
          <p:cNvSpPr txBox="1"/>
          <p:nvPr/>
        </p:nvSpPr>
        <p:spPr>
          <a:xfrm>
            <a:off x="731520" y="5349240"/>
            <a:ext cx="10728655" cy="1097280"/>
          </a:xfrm>
          <a:prstGeom prst="rect">
            <a:avLst/>
          </a:prstGeom>
          <a:noFill/>
        </p:spPr>
        <p:txBody>
          <a:bodyPr wrap="none">
            <a:spAutoFit/>
          </a:bodyPr>
          <a:lstStyle/>
          <a:p>
            <a:pPr>
              <a:defRPr sz="1800">
                <a:solidFill>
                  <a:srgbClr val="3C3C3C"/>
                </a:solidFill>
                <a:latin typeface="Calibri"/>
              </a:defRPr>
            </a:pPr>
            <a:r>
              <a:t>Pham Minh Thuc — ITITWE23033</a:t>
            </a:r>
          </a:p>
          <a:p>
            <a:pPr>
              <a:defRPr sz="1800">
                <a:solidFill>
                  <a:srgbClr val="3C3C3C"/>
                </a:solidFill>
                <a:latin typeface="Calibri"/>
              </a:defRPr>
            </a:pPr>
            <a:r>
              <a:t>Nguyen Huynh Dang Khoa — ITITWE22152</a:t>
            </a:r>
          </a:p>
          <a:p>
            <a:pPr>
              <a:defRPr sz="1400">
                <a:solidFill>
                  <a:srgbClr val="3C3C3C"/>
                </a:solidFill>
                <a:latin typeface="Calibri"/>
              </a:defRPr>
            </a:pPr>
            <a:r>
              <a:t>Vietnam National University HCMC — International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Agenda</a:t>
            </a:r>
          </a:p>
        </p:txBody>
      </p:sp>
      <p:sp>
        <p:nvSpPr>
          <p:cNvPr id="4" name="TextBox 3"/>
          <p:cNvSpPr txBox="1"/>
          <p:nvPr/>
        </p:nvSpPr>
        <p:spPr>
          <a:xfrm>
            <a:off x="822960" y="1645920"/>
            <a:ext cx="10607040" cy="4937760"/>
          </a:xfrm>
          <a:prstGeom prst="rect">
            <a:avLst/>
          </a:prstGeom>
          <a:noFill/>
        </p:spPr>
        <p:txBody>
          <a:bodyPr wrap="none">
            <a:spAutoFit/>
          </a:bodyPr>
          <a:lstStyle/>
          <a:p>
            <a:pPr>
              <a:defRPr sz="2400">
                <a:solidFill>
                  <a:srgbClr val="212121"/>
                </a:solidFill>
                <a:latin typeface="Calibri"/>
              </a:defRPr>
            </a:pPr>
            <a:r>
              <a:t>Project overview &amp; objectives</a:t>
            </a:r>
          </a:p>
          <a:p>
            <a:pPr>
              <a:defRPr sz="2400">
                <a:solidFill>
                  <a:srgbClr val="212121"/>
                </a:solidFill>
                <a:latin typeface="Calibri"/>
              </a:defRPr>
            </a:pPr>
            <a:r>
              <a:t>Technology stack &amp; system architecture</a:t>
            </a:r>
          </a:p>
          <a:p>
            <a:pPr>
              <a:defRPr sz="2400">
                <a:solidFill>
                  <a:srgbClr val="212121"/>
                </a:solidFill>
                <a:latin typeface="Calibri"/>
              </a:defRPr>
            </a:pPr>
            <a:r>
              <a:t>Requirement analysis (Use Case Diagram)</a:t>
            </a:r>
          </a:p>
          <a:p>
            <a:pPr>
              <a:defRPr sz="2400">
                <a:solidFill>
                  <a:srgbClr val="212121"/>
                </a:solidFill>
                <a:latin typeface="Calibri"/>
              </a:defRPr>
            </a:pPr>
            <a:r>
              <a:t>Database design (ERD)</a:t>
            </a:r>
          </a:p>
          <a:p>
            <a:pPr>
              <a:defRPr sz="2400">
                <a:solidFill>
                  <a:srgbClr val="212121"/>
                </a:solidFill>
                <a:latin typeface="Calibri"/>
              </a:defRPr>
            </a:pPr>
            <a:r>
              <a:t>Implementation highlights (User &amp; Admin modules)</a:t>
            </a:r>
          </a:p>
          <a:p>
            <a:pPr>
              <a:defRPr sz="2400">
                <a:solidFill>
                  <a:srgbClr val="212121"/>
                </a:solidFill>
                <a:latin typeface="Calibri"/>
              </a:defRPr>
            </a:pPr>
            <a:r>
              <a:t>Testing + demo scenario</a:t>
            </a:r>
          </a:p>
          <a:p>
            <a:pPr>
              <a:defRPr sz="2400">
                <a:solidFill>
                  <a:srgbClr val="212121"/>
                </a:solidFill>
                <a:latin typeface="Calibri"/>
              </a:defRPr>
            </a:pPr>
            <a:r>
              <a:t>Conclusion &amp; future improvements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Project Overview</a:t>
            </a:r>
          </a:p>
        </p:txBody>
      </p:sp>
      <p:sp>
        <p:nvSpPr>
          <p:cNvPr id="4" name="TextBox 3"/>
          <p:cNvSpPr txBox="1"/>
          <p:nvPr/>
        </p:nvSpPr>
        <p:spPr>
          <a:xfrm>
            <a:off x="190500" y="1554480"/>
            <a:ext cx="6301740" cy="2646878"/>
          </a:xfrm>
          <a:prstGeom prst="rect">
            <a:avLst/>
          </a:prstGeom>
          <a:noFill/>
        </p:spPr>
        <p:txBody>
          <a:bodyPr wrap="square">
            <a:spAutoFit/>
          </a:bodyPr>
          <a:lstStyle/>
          <a:p>
            <a:pPr>
              <a:defRPr sz="2200">
                <a:solidFill>
                  <a:srgbClr val="212121"/>
                </a:solidFill>
                <a:latin typeface="Calibri"/>
              </a:defRPr>
            </a:pPr>
            <a:r>
              <a:rPr dirty="0"/>
              <a:t>An e-commerce web app for buying shoes online.</a:t>
            </a:r>
          </a:p>
          <a:p>
            <a:pPr>
              <a:defRPr sz="2200">
                <a:solidFill>
                  <a:srgbClr val="212121"/>
                </a:solidFill>
                <a:latin typeface="Calibri"/>
              </a:defRPr>
            </a:pPr>
            <a:r>
              <a:rPr dirty="0"/>
              <a:t>Two main user groups</a:t>
            </a:r>
          </a:p>
          <a:p>
            <a:pPr lvl="1">
              <a:defRPr sz="2000">
                <a:solidFill>
                  <a:srgbClr val="3C3C3C"/>
                </a:solidFill>
                <a:latin typeface="Calibri"/>
              </a:defRPr>
            </a:pPr>
            <a:r>
              <a:rPr dirty="0"/>
              <a:t>Customers: browse, add to cart, checkout, track orders</a:t>
            </a:r>
          </a:p>
          <a:p>
            <a:pPr lvl="1">
              <a:defRPr sz="2000">
                <a:solidFill>
                  <a:srgbClr val="3C3C3C"/>
                </a:solidFill>
                <a:latin typeface="Calibri"/>
              </a:defRPr>
            </a:pPr>
            <a:r>
              <a:rPr dirty="0"/>
              <a:t>Admins: manage users, products, and orders</a:t>
            </a:r>
          </a:p>
          <a:p>
            <a:pPr>
              <a:defRPr sz="2200">
                <a:solidFill>
                  <a:srgbClr val="212121"/>
                </a:solidFill>
                <a:latin typeface="Calibri"/>
              </a:defRPr>
            </a:pPr>
            <a:r>
              <a:rPr dirty="0"/>
              <a:t>Core goals</a:t>
            </a:r>
          </a:p>
          <a:p>
            <a:pPr lvl="1">
              <a:defRPr sz="2000">
                <a:solidFill>
                  <a:srgbClr val="3C3C3C"/>
                </a:solidFill>
                <a:latin typeface="Calibri"/>
              </a:defRPr>
            </a:pPr>
            <a:r>
              <a:rPr dirty="0"/>
              <a:t>Usable shopping flow</a:t>
            </a:r>
          </a:p>
          <a:p>
            <a:pPr lvl="1">
              <a:defRPr sz="2000">
                <a:solidFill>
                  <a:srgbClr val="3C3C3C"/>
                </a:solidFill>
                <a:latin typeface="Calibri"/>
              </a:defRPr>
            </a:pPr>
            <a:r>
              <a:rPr dirty="0"/>
              <a:t>Secure authentication &amp; role-based access</a:t>
            </a:r>
          </a:p>
          <a:p>
            <a:pPr lvl="1">
              <a:defRPr sz="2000">
                <a:solidFill>
                  <a:srgbClr val="3C3C3C"/>
                </a:solidFill>
                <a:latin typeface="Calibri"/>
              </a:defRPr>
            </a:pPr>
            <a:r>
              <a:rPr dirty="0"/>
              <a:t>Maintainable full-stack structure</a:t>
            </a:r>
          </a:p>
        </p:txBody>
      </p:sp>
      <p:sp>
        <p:nvSpPr>
          <p:cNvPr id="5" name="Rounded Rectangle 4"/>
          <p:cNvSpPr/>
          <p:nvPr/>
        </p:nvSpPr>
        <p:spPr>
          <a:xfrm>
            <a:off x="6858000" y="1920240"/>
            <a:ext cx="4937760" cy="82296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latin typeface="Calibri"/>
              </a:defRPr>
            </a:pPr>
            <a:r>
              <a:rPr lang="en-US" sz="2800" dirty="0">
                <a:solidFill>
                  <a:schemeClr val="tx1"/>
                </a:solidFill>
              </a:rPr>
              <a:t>Browse </a:t>
            </a:r>
            <a:r>
              <a:rPr lang="en-US" sz="2800" dirty="0" err="1">
                <a:solidFill>
                  <a:schemeClr val="tx1"/>
                </a:solidFill>
              </a:rPr>
              <a:t>Products</a:t>
            </a:r>
            <a:r>
              <a:rPr sz="2800" dirty="0" err="1">
                <a:solidFill>
                  <a:schemeClr val="tx1"/>
                </a:solidFill>
              </a:rPr>
              <a:t>Browser</a:t>
            </a:r>
            <a:endParaRPr sz="2800" dirty="0">
              <a:solidFill>
                <a:schemeClr val="tx1"/>
              </a:solidFill>
            </a:endParaRPr>
          </a:p>
          <a:p>
            <a:r>
              <a:rPr dirty="0"/>
              <a:t>(React)</a:t>
            </a:r>
          </a:p>
        </p:txBody>
      </p:sp>
      <p:sp>
        <p:nvSpPr>
          <p:cNvPr id="6" name="Rounded Rectangle 5"/>
          <p:cNvSpPr/>
          <p:nvPr/>
        </p:nvSpPr>
        <p:spPr>
          <a:xfrm>
            <a:off x="6858000" y="3017520"/>
            <a:ext cx="4937760" cy="82296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latin typeface="Calibri"/>
              </a:defRPr>
            </a:pPr>
            <a:r>
              <a:rPr lang="vi-VN" sz="2400" dirty="0">
                <a:solidFill>
                  <a:schemeClr val="tx1"/>
                </a:solidFill>
              </a:rPr>
              <a:t>Add to Cart</a:t>
            </a:r>
            <a:endParaRPr sz="2400" dirty="0">
              <a:solidFill>
                <a:schemeClr val="tx1"/>
              </a:solidFill>
            </a:endParaRPr>
          </a:p>
          <a:p>
            <a:r>
              <a:rPr dirty="0"/>
              <a:t>(Node + Express)</a:t>
            </a:r>
          </a:p>
        </p:txBody>
      </p:sp>
      <p:sp>
        <p:nvSpPr>
          <p:cNvPr id="7" name="Rounded Rectangle 6"/>
          <p:cNvSpPr/>
          <p:nvPr/>
        </p:nvSpPr>
        <p:spPr>
          <a:xfrm>
            <a:off x="6858000" y="4114800"/>
            <a:ext cx="4937760" cy="82296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latin typeface="Calibri"/>
              </a:defRPr>
            </a:pPr>
            <a:r>
              <a:rPr lang="vi-VN" sz="2400" dirty="0">
                <a:solidFill>
                  <a:schemeClr val="tx1"/>
                </a:solidFill>
              </a:rPr>
              <a:t>Checkout</a:t>
            </a:r>
            <a:endParaRPr sz="2400" dirty="0">
              <a:solidFill>
                <a:schemeClr val="tx1"/>
              </a:solidFill>
            </a:endParaRPr>
          </a:p>
          <a:p>
            <a:r>
              <a:rPr dirty="0"/>
              <a:t>(MongoDB)</a:t>
            </a:r>
            <a:r>
              <a:rPr lang="en-US" dirty="0"/>
              <a:t> Checkout</a:t>
            </a:r>
            <a:endParaRPr dirty="0"/>
          </a:p>
        </p:txBody>
      </p:sp>
      <p:sp>
        <p:nvSpPr>
          <p:cNvPr id="8" name="Rounded Rectangle 7"/>
          <p:cNvSpPr/>
          <p:nvPr/>
        </p:nvSpPr>
        <p:spPr>
          <a:xfrm>
            <a:off x="6858000" y="5212079"/>
            <a:ext cx="4937760" cy="82296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latin typeface="Calibri"/>
              </a:defRPr>
            </a:pPr>
            <a:r>
              <a:rPr lang="en-US" sz="2400" dirty="0">
                <a:solidFill>
                  <a:schemeClr val="tx1"/>
                </a:solidFill>
              </a:rPr>
              <a:t>Track Orders</a:t>
            </a:r>
            <a:endParaRPr sz="2400" dirty="0">
              <a:solidFill>
                <a:schemeClr val="tx1"/>
              </a:solidFill>
            </a:endParaRPr>
          </a:p>
          <a:p>
            <a:r>
              <a:rPr dirty="0"/>
              <a:t>(images)</a:t>
            </a:r>
          </a:p>
        </p:txBody>
      </p:sp>
      <p:sp>
        <p:nvSpPr>
          <p:cNvPr id="9" name="Rectangle 1">
            <a:extLst>
              <a:ext uri="{FF2B5EF4-FFF2-40B4-BE49-F238E27FC236}">
                <a16:creationId xmlns:a16="http://schemas.microsoft.com/office/drawing/2014/main" id="{B3666884-3FAD-4428-822D-73825D02BF6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Add to Cart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Technology Stack &amp; Key Libraries</a:t>
            </a:r>
          </a:p>
        </p:txBody>
      </p:sp>
      <p:sp>
        <p:nvSpPr>
          <p:cNvPr id="4" name="TextBox 3"/>
          <p:cNvSpPr txBox="1"/>
          <p:nvPr/>
        </p:nvSpPr>
        <p:spPr>
          <a:xfrm>
            <a:off x="822960" y="1554480"/>
            <a:ext cx="11155680" cy="5303520"/>
          </a:xfrm>
          <a:prstGeom prst="rect">
            <a:avLst/>
          </a:prstGeom>
          <a:noFill/>
        </p:spPr>
        <p:txBody>
          <a:bodyPr wrap="none">
            <a:spAutoFit/>
          </a:bodyPr>
          <a:lstStyle/>
          <a:p>
            <a:pPr>
              <a:defRPr sz="2200">
                <a:solidFill>
                  <a:srgbClr val="212121"/>
                </a:solidFill>
                <a:latin typeface="Calibri"/>
              </a:defRPr>
            </a:pPr>
            <a:r>
              <a:t>MERN Stack</a:t>
            </a:r>
          </a:p>
          <a:p>
            <a:pPr lvl="1">
              <a:defRPr sz="2000">
                <a:solidFill>
                  <a:srgbClr val="3C3C3C"/>
                </a:solidFill>
                <a:latin typeface="Calibri"/>
              </a:defRPr>
            </a:pPr>
            <a:r>
              <a:t>MongoDB for data storage (users, products, carts, orders)</a:t>
            </a:r>
          </a:p>
          <a:p>
            <a:pPr lvl="1">
              <a:defRPr sz="2000">
                <a:solidFill>
                  <a:srgbClr val="3C3C3C"/>
                </a:solidFill>
                <a:latin typeface="Calibri"/>
              </a:defRPr>
            </a:pPr>
            <a:r>
              <a:t>Express.js + Node.js for RESTful APIs</a:t>
            </a:r>
          </a:p>
          <a:p>
            <a:pPr lvl="1">
              <a:defRPr sz="2000">
                <a:solidFill>
                  <a:srgbClr val="3C3C3C"/>
                </a:solidFill>
                <a:latin typeface="Calibri"/>
              </a:defRPr>
            </a:pPr>
            <a:r>
              <a:t>React.js for UI and routing</a:t>
            </a:r>
          </a:p>
          <a:p>
            <a:pPr>
              <a:defRPr sz="2200">
                <a:solidFill>
                  <a:srgbClr val="212121"/>
                </a:solidFill>
                <a:latin typeface="Calibri"/>
              </a:defRPr>
            </a:pPr>
            <a:r>
              <a:t>Supporting tools</a:t>
            </a:r>
          </a:p>
          <a:p>
            <a:pPr lvl="1">
              <a:defRPr sz="2000">
                <a:solidFill>
                  <a:srgbClr val="3C3C3C"/>
                </a:solidFill>
                <a:latin typeface="Calibri"/>
              </a:defRPr>
            </a:pPr>
            <a:r>
              <a:t>Tailwind CSS for responsive styling</a:t>
            </a:r>
          </a:p>
          <a:p>
            <a:pPr lvl="1">
              <a:defRPr sz="2000">
                <a:solidFill>
                  <a:srgbClr val="3C3C3C"/>
                </a:solidFill>
                <a:latin typeface="Calibri"/>
              </a:defRPr>
            </a:pPr>
            <a:r>
              <a:t>Cloudinary for product image hosting</a:t>
            </a:r>
          </a:p>
          <a:p>
            <a:pPr lvl="1">
              <a:defRPr sz="2000">
                <a:solidFill>
                  <a:srgbClr val="3C3C3C"/>
                </a:solidFill>
                <a:latin typeface="Calibri"/>
              </a:defRPr>
            </a:pPr>
            <a:r>
              <a:t>JWT for authentication and authorization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Requirement Analysis: Use Case Diagram</a:t>
            </a:r>
          </a:p>
        </p:txBody>
      </p:sp>
      <p:sp>
        <p:nvSpPr>
          <p:cNvPr id="4" name="TextBox 3"/>
          <p:cNvSpPr txBox="1"/>
          <p:nvPr/>
        </p:nvSpPr>
        <p:spPr>
          <a:xfrm>
            <a:off x="548640" y="1234440"/>
            <a:ext cx="11094415" cy="457200"/>
          </a:xfrm>
          <a:prstGeom prst="rect">
            <a:avLst/>
          </a:prstGeom>
          <a:noFill/>
        </p:spPr>
        <p:txBody>
          <a:bodyPr wrap="none">
            <a:spAutoFit/>
          </a:bodyPr>
          <a:lstStyle/>
          <a:p>
            <a:r>
              <a:rPr sz="1800">
                <a:solidFill>
                  <a:srgbClr val="505050"/>
                </a:solidFill>
                <a:latin typeface="Calibri"/>
              </a:rPr>
              <a:t>Actors and major system functions</a:t>
            </a:r>
          </a:p>
        </p:txBody>
      </p:sp>
      <p:pic>
        <p:nvPicPr>
          <p:cNvPr id="5" name="Picture 4" descr="image1.png"/>
          <p:cNvPicPr>
            <a:picLocks noChangeAspect="1"/>
          </p:cNvPicPr>
          <p:nvPr/>
        </p:nvPicPr>
        <p:blipFill>
          <a:blip r:embed="rId3"/>
          <a:stretch>
            <a:fillRect/>
          </a:stretch>
        </p:blipFill>
        <p:spPr>
          <a:xfrm>
            <a:off x="5315289" y="1508760"/>
            <a:ext cx="1622380" cy="5120640"/>
          </a:xfrm>
          <a:prstGeom prst="rect">
            <a:avLst/>
          </a:prstGeom>
        </p:spPr>
      </p:pic>
      <p:sp>
        <p:nvSpPr>
          <p:cNvPr id="6" name="TextBox 5"/>
          <p:cNvSpPr txBox="1"/>
          <p:nvPr/>
        </p:nvSpPr>
        <p:spPr>
          <a:xfrm>
            <a:off x="640080" y="6537960"/>
            <a:ext cx="10972800" cy="274320"/>
          </a:xfrm>
          <a:prstGeom prst="rect">
            <a:avLst/>
          </a:prstGeom>
          <a:noFill/>
        </p:spPr>
        <p:txBody>
          <a:bodyPr wrap="none">
            <a:spAutoFit/>
          </a:bodyPr>
          <a:lstStyle/>
          <a:p>
            <a:pPr algn="ctr">
              <a:defRPr sz="1200">
                <a:solidFill>
                  <a:srgbClr val="646464"/>
                </a:solidFill>
                <a:latin typeface="Calibri"/>
              </a:defRPr>
            </a:pPr>
            <a:r>
              <a:t>Figure: Use Case Diagram of the Online Shoes Store Web Application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Database Design: ERD</a:t>
            </a:r>
          </a:p>
        </p:txBody>
      </p:sp>
      <p:sp>
        <p:nvSpPr>
          <p:cNvPr id="4" name="TextBox 3"/>
          <p:cNvSpPr txBox="1"/>
          <p:nvPr/>
        </p:nvSpPr>
        <p:spPr>
          <a:xfrm>
            <a:off x="548640" y="1234440"/>
            <a:ext cx="11094415" cy="457200"/>
          </a:xfrm>
          <a:prstGeom prst="rect">
            <a:avLst/>
          </a:prstGeom>
          <a:noFill/>
        </p:spPr>
        <p:txBody>
          <a:bodyPr wrap="none">
            <a:spAutoFit/>
          </a:bodyPr>
          <a:lstStyle/>
          <a:p>
            <a:r>
              <a:rPr sz="1800">
                <a:solidFill>
                  <a:srgbClr val="505050"/>
                </a:solidFill>
                <a:latin typeface="Calibri"/>
              </a:rPr>
              <a:t>Main entities and relationships</a:t>
            </a:r>
          </a:p>
        </p:txBody>
      </p:sp>
      <p:pic>
        <p:nvPicPr>
          <p:cNvPr id="5" name="Picture 4" descr="image2.png"/>
          <p:cNvPicPr>
            <a:picLocks noChangeAspect="1"/>
          </p:cNvPicPr>
          <p:nvPr/>
        </p:nvPicPr>
        <p:blipFill>
          <a:blip r:embed="rId3"/>
          <a:stretch>
            <a:fillRect/>
          </a:stretch>
        </p:blipFill>
        <p:spPr>
          <a:xfrm>
            <a:off x="2731307" y="1463040"/>
            <a:ext cx="6790344" cy="5303520"/>
          </a:xfrm>
          <a:prstGeom prst="rect">
            <a:avLst/>
          </a:prstGeom>
        </p:spPr>
      </p:pic>
      <p:sp>
        <p:nvSpPr>
          <p:cNvPr id="6" name="TextBox 5"/>
          <p:cNvSpPr txBox="1"/>
          <p:nvPr/>
        </p:nvSpPr>
        <p:spPr>
          <a:xfrm>
            <a:off x="822960" y="6537960"/>
            <a:ext cx="10607040" cy="274320"/>
          </a:xfrm>
          <a:prstGeom prst="rect">
            <a:avLst/>
          </a:prstGeom>
          <a:noFill/>
        </p:spPr>
        <p:txBody>
          <a:bodyPr wrap="none">
            <a:spAutoFit/>
          </a:bodyPr>
          <a:lstStyle/>
          <a:p>
            <a:pPr algn="ctr">
              <a:defRPr sz="1200">
                <a:solidFill>
                  <a:srgbClr val="646464"/>
                </a:solidFill>
                <a:latin typeface="Calibri"/>
              </a:defRPr>
            </a:pPr>
            <a:r>
              <a:t>Figure: ERD / Data model (User, Product, Cart, Order and their line-item entities)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User Module: Authentication &amp; Browsing</a:t>
            </a:r>
          </a:p>
        </p:txBody>
      </p:sp>
      <p:sp>
        <p:nvSpPr>
          <p:cNvPr id="4" name="TextBox 3"/>
          <p:cNvSpPr txBox="1"/>
          <p:nvPr/>
        </p:nvSpPr>
        <p:spPr>
          <a:xfrm>
            <a:off x="822960" y="1463040"/>
            <a:ext cx="5394960" cy="5303520"/>
          </a:xfrm>
          <a:prstGeom prst="rect">
            <a:avLst/>
          </a:prstGeom>
          <a:noFill/>
        </p:spPr>
        <p:txBody>
          <a:bodyPr wrap="none">
            <a:spAutoFit/>
          </a:bodyPr>
          <a:lstStyle/>
          <a:p>
            <a:pPr>
              <a:defRPr sz="2200">
                <a:solidFill>
                  <a:srgbClr val="212121"/>
                </a:solidFill>
                <a:latin typeface="Calibri"/>
              </a:defRPr>
            </a:pPr>
            <a:r>
              <a:t>Register a new account and log in securely (JWT).</a:t>
            </a:r>
          </a:p>
          <a:p>
            <a:pPr>
              <a:defRPr sz="2200">
                <a:solidFill>
                  <a:srgbClr val="212121"/>
                </a:solidFill>
                <a:latin typeface="Calibri"/>
              </a:defRPr>
            </a:pPr>
            <a:r>
              <a:t>Browse products by brand (Adidas / Nike / Vans).</a:t>
            </a:r>
          </a:p>
          <a:p>
            <a:pPr>
              <a:defRPr sz="2200">
                <a:solidFill>
                  <a:srgbClr val="212121"/>
                </a:solidFill>
                <a:latin typeface="Calibri"/>
              </a:defRPr>
            </a:pPr>
            <a:r>
              <a:t>View detailed product information before buying.</a:t>
            </a:r>
          </a:p>
        </p:txBody>
      </p:sp>
      <p:pic>
        <p:nvPicPr>
          <p:cNvPr id="5" name="Picture 4" descr="image3.png"/>
          <p:cNvPicPr>
            <a:picLocks noChangeAspect="1"/>
          </p:cNvPicPr>
          <p:nvPr/>
        </p:nvPicPr>
        <p:blipFill>
          <a:blip r:embed="rId3"/>
          <a:stretch>
            <a:fillRect/>
          </a:stretch>
        </p:blipFill>
        <p:spPr>
          <a:xfrm>
            <a:off x="6492240" y="1974295"/>
            <a:ext cx="1828800" cy="989168"/>
          </a:xfrm>
          <a:prstGeom prst="rect">
            <a:avLst/>
          </a:prstGeom>
        </p:spPr>
      </p:pic>
      <p:pic>
        <p:nvPicPr>
          <p:cNvPr id="6" name="Picture 5" descr="image4.png"/>
          <p:cNvPicPr>
            <a:picLocks noChangeAspect="1"/>
          </p:cNvPicPr>
          <p:nvPr/>
        </p:nvPicPr>
        <p:blipFill>
          <a:blip r:embed="rId4"/>
          <a:stretch>
            <a:fillRect/>
          </a:stretch>
        </p:blipFill>
        <p:spPr>
          <a:xfrm>
            <a:off x="8549640" y="1978644"/>
            <a:ext cx="1828800" cy="980470"/>
          </a:xfrm>
          <a:prstGeom prst="rect">
            <a:avLst/>
          </a:prstGeom>
        </p:spPr>
      </p:pic>
      <p:pic>
        <p:nvPicPr>
          <p:cNvPr id="7" name="Picture 6" descr="image5.png"/>
          <p:cNvPicPr>
            <a:picLocks noChangeAspect="1"/>
          </p:cNvPicPr>
          <p:nvPr/>
        </p:nvPicPr>
        <p:blipFill>
          <a:blip r:embed="rId5"/>
          <a:stretch>
            <a:fillRect/>
          </a:stretch>
        </p:blipFill>
        <p:spPr>
          <a:xfrm>
            <a:off x="6492240" y="4104317"/>
            <a:ext cx="3886200" cy="2078365"/>
          </a:xfrm>
          <a:prstGeom prst="rect">
            <a:avLst/>
          </a:prstGeom>
        </p:spPr>
      </p:pic>
      <p:sp>
        <p:nvSpPr>
          <p:cNvPr id="8" name="TextBox 7"/>
          <p:cNvSpPr txBox="1"/>
          <p:nvPr/>
        </p:nvSpPr>
        <p:spPr>
          <a:xfrm>
            <a:off x="6492240" y="1325880"/>
            <a:ext cx="3931920" cy="274320"/>
          </a:xfrm>
          <a:prstGeom prst="rect">
            <a:avLst/>
          </a:prstGeom>
          <a:noFill/>
        </p:spPr>
        <p:txBody>
          <a:bodyPr wrap="none">
            <a:spAutoFit/>
          </a:bodyPr>
          <a:lstStyle/>
          <a:p>
            <a:pPr>
              <a:defRPr sz="1200">
                <a:solidFill>
                  <a:srgbClr val="6E6E6E"/>
                </a:solidFill>
              </a:defRPr>
            </a:pPr>
            <a:r>
              <a:t>Register / Login / Brand browsing (screenshots)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User Module: Cart &amp; Checkout</a:t>
            </a:r>
          </a:p>
        </p:txBody>
      </p:sp>
      <p:sp>
        <p:nvSpPr>
          <p:cNvPr id="4" name="TextBox 3"/>
          <p:cNvSpPr txBox="1"/>
          <p:nvPr/>
        </p:nvSpPr>
        <p:spPr>
          <a:xfrm>
            <a:off x="822960" y="1463040"/>
            <a:ext cx="5577840" cy="5303520"/>
          </a:xfrm>
          <a:prstGeom prst="rect">
            <a:avLst/>
          </a:prstGeom>
          <a:noFill/>
        </p:spPr>
        <p:txBody>
          <a:bodyPr wrap="none">
            <a:spAutoFit/>
          </a:bodyPr>
          <a:lstStyle/>
          <a:p>
            <a:pPr>
              <a:defRPr sz="2200">
                <a:solidFill>
                  <a:srgbClr val="212121"/>
                </a:solidFill>
                <a:latin typeface="Calibri"/>
              </a:defRPr>
            </a:pPr>
            <a:r>
              <a:t>Cart management</a:t>
            </a:r>
          </a:p>
          <a:p>
            <a:pPr lvl="1">
              <a:defRPr sz="2000">
                <a:solidFill>
                  <a:srgbClr val="3C3C3C"/>
                </a:solidFill>
                <a:latin typeface="Calibri"/>
              </a:defRPr>
            </a:pPr>
            <a:r>
              <a:t>Add item from product details</a:t>
            </a:r>
          </a:p>
          <a:p>
            <a:pPr lvl="1">
              <a:defRPr sz="2000">
                <a:solidFill>
                  <a:srgbClr val="3C3C3C"/>
                </a:solidFill>
                <a:latin typeface="Calibri"/>
              </a:defRPr>
            </a:pPr>
            <a:r>
              <a:t>Update quantity and options (size/color)</a:t>
            </a:r>
          </a:p>
          <a:p>
            <a:pPr lvl="1">
              <a:defRPr sz="2000">
                <a:solidFill>
                  <a:srgbClr val="3C3C3C"/>
                </a:solidFill>
                <a:latin typeface="Calibri"/>
              </a:defRPr>
            </a:pPr>
            <a:r>
              <a:t>Remove item or clear cart</a:t>
            </a:r>
          </a:p>
          <a:p>
            <a:pPr>
              <a:defRPr sz="2200">
                <a:solidFill>
                  <a:srgbClr val="212121"/>
                </a:solidFill>
                <a:latin typeface="Calibri"/>
              </a:defRPr>
            </a:pPr>
            <a:r>
              <a:t>Checkout</a:t>
            </a:r>
          </a:p>
          <a:p>
            <a:pPr lvl="1">
              <a:defRPr sz="2000">
                <a:solidFill>
                  <a:srgbClr val="3C3C3C"/>
                </a:solidFill>
                <a:latin typeface="Calibri"/>
              </a:defRPr>
            </a:pPr>
            <a:r>
              <a:t>Enter delivery address &amp; phone</a:t>
            </a:r>
          </a:p>
          <a:p>
            <a:pPr lvl="1">
              <a:defRPr sz="2000">
                <a:solidFill>
                  <a:srgbClr val="3C3C3C"/>
                </a:solidFill>
                <a:latin typeface="Calibri"/>
              </a:defRPr>
            </a:pPr>
            <a:r>
              <a:t>Create an order and redirect to My Orders</a:t>
            </a:r>
          </a:p>
        </p:txBody>
      </p:sp>
      <p:pic>
        <p:nvPicPr>
          <p:cNvPr id="5" name="Picture 4" descr="image6.png"/>
          <p:cNvPicPr>
            <a:picLocks noChangeAspect="1"/>
          </p:cNvPicPr>
          <p:nvPr/>
        </p:nvPicPr>
        <p:blipFill>
          <a:blip r:embed="rId3"/>
          <a:stretch>
            <a:fillRect/>
          </a:stretch>
        </p:blipFill>
        <p:spPr>
          <a:xfrm>
            <a:off x="6675120" y="1768639"/>
            <a:ext cx="5120640" cy="1857681"/>
          </a:xfrm>
          <a:prstGeom prst="rect">
            <a:avLst/>
          </a:prstGeom>
        </p:spPr>
      </p:pic>
      <p:pic>
        <p:nvPicPr>
          <p:cNvPr id="6" name="Picture 5" descr="image7.png"/>
          <p:cNvPicPr>
            <a:picLocks noChangeAspect="1"/>
          </p:cNvPicPr>
          <p:nvPr/>
        </p:nvPicPr>
        <p:blipFill>
          <a:blip r:embed="rId4"/>
          <a:stretch>
            <a:fillRect/>
          </a:stretch>
        </p:blipFill>
        <p:spPr>
          <a:xfrm>
            <a:off x="6844807" y="4069080"/>
            <a:ext cx="4781264" cy="2606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User Module: Order Tracking</a:t>
            </a:r>
          </a:p>
        </p:txBody>
      </p:sp>
      <p:sp>
        <p:nvSpPr>
          <p:cNvPr id="4" name="TextBox 3"/>
          <p:cNvSpPr txBox="1"/>
          <p:nvPr/>
        </p:nvSpPr>
        <p:spPr>
          <a:xfrm>
            <a:off x="822960" y="1463040"/>
            <a:ext cx="5577840" cy="5303520"/>
          </a:xfrm>
          <a:prstGeom prst="rect">
            <a:avLst/>
          </a:prstGeom>
          <a:noFill/>
        </p:spPr>
        <p:txBody>
          <a:bodyPr wrap="none">
            <a:spAutoFit/>
          </a:bodyPr>
          <a:lstStyle/>
          <a:p>
            <a:pPr>
              <a:defRPr sz="2200">
                <a:solidFill>
                  <a:srgbClr val="212121"/>
                </a:solidFill>
                <a:latin typeface="Calibri"/>
              </a:defRPr>
            </a:pPr>
            <a:r>
              <a:t>After placing an order, the system saves order details and item list.</a:t>
            </a:r>
          </a:p>
          <a:p>
            <a:pPr>
              <a:defRPr sz="2200">
                <a:solidFill>
                  <a:srgbClr val="212121"/>
                </a:solidFill>
                <a:latin typeface="Calibri"/>
              </a:defRPr>
            </a:pPr>
            <a:r>
              <a:t>Users can view their order history in 'My Orders'.</a:t>
            </a:r>
          </a:p>
          <a:p>
            <a:pPr>
              <a:defRPr sz="2200">
                <a:solidFill>
                  <a:srgbClr val="212121"/>
                </a:solidFill>
                <a:latin typeface="Calibri"/>
              </a:defRPr>
            </a:pPr>
            <a:r>
              <a:t>Each order shows total price, date, items, and current status (e.g., pending).</a:t>
            </a:r>
          </a:p>
        </p:txBody>
      </p:sp>
      <p:pic>
        <p:nvPicPr>
          <p:cNvPr id="5" name="Picture 4" descr="image8.png"/>
          <p:cNvPicPr>
            <a:picLocks noChangeAspect="1"/>
          </p:cNvPicPr>
          <p:nvPr/>
        </p:nvPicPr>
        <p:blipFill>
          <a:blip r:embed="rId3"/>
          <a:stretch>
            <a:fillRect/>
          </a:stretch>
        </p:blipFill>
        <p:spPr>
          <a:xfrm>
            <a:off x="6675120" y="2630465"/>
            <a:ext cx="5120640" cy="24200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Admin Module: Management Dashboard</a:t>
            </a:r>
          </a:p>
        </p:txBody>
      </p:sp>
      <p:sp>
        <p:nvSpPr>
          <p:cNvPr id="4" name="TextBox 3"/>
          <p:cNvSpPr txBox="1"/>
          <p:nvPr/>
        </p:nvSpPr>
        <p:spPr>
          <a:xfrm>
            <a:off x="548640" y="1234440"/>
            <a:ext cx="11094415" cy="457200"/>
          </a:xfrm>
          <a:prstGeom prst="rect">
            <a:avLst/>
          </a:prstGeom>
          <a:noFill/>
        </p:spPr>
        <p:txBody>
          <a:bodyPr wrap="none">
            <a:spAutoFit/>
          </a:bodyPr>
          <a:lstStyle/>
          <a:p>
            <a:r>
              <a:rPr sz="1800">
                <a:solidFill>
                  <a:srgbClr val="505050"/>
                </a:solidFill>
                <a:latin typeface="Calibri"/>
              </a:rPr>
              <a:t>Role-based access to system administration</a:t>
            </a:r>
          </a:p>
        </p:txBody>
      </p:sp>
      <p:sp>
        <p:nvSpPr>
          <p:cNvPr id="5" name="TextBox 4"/>
          <p:cNvSpPr txBox="1"/>
          <p:nvPr/>
        </p:nvSpPr>
        <p:spPr>
          <a:xfrm>
            <a:off x="822960" y="1463040"/>
            <a:ext cx="5577840" cy="5303520"/>
          </a:xfrm>
          <a:prstGeom prst="rect">
            <a:avLst/>
          </a:prstGeom>
          <a:noFill/>
        </p:spPr>
        <p:txBody>
          <a:bodyPr wrap="none">
            <a:spAutoFit/>
          </a:bodyPr>
          <a:lstStyle/>
          <a:p>
            <a:pPr>
              <a:defRPr sz="2200">
                <a:solidFill>
                  <a:srgbClr val="212121"/>
                </a:solidFill>
                <a:latin typeface="Calibri"/>
              </a:defRPr>
            </a:pPr>
            <a:r>
              <a:t>Admin capabilities</a:t>
            </a:r>
          </a:p>
          <a:p>
            <a:pPr lvl="1">
              <a:defRPr sz="2000">
                <a:solidFill>
                  <a:srgbClr val="3C3C3C"/>
                </a:solidFill>
                <a:latin typeface="Calibri"/>
              </a:defRPr>
            </a:pPr>
            <a:r>
              <a:t>Manage user accounts (create/update/delete, set roles)</a:t>
            </a:r>
          </a:p>
          <a:p>
            <a:pPr lvl="1">
              <a:defRPr sz="2000">
                <a:solidFill>
                  <a:srgbClr val="3C3C3C"/>
                </a:solidFill>
                <a:latin typeface="Calibri"/>
              </a:defRPr>
            </a:pPr>
            <a:r>
              <a:t>Manage products (CRUD + upload image to Cloudinary)</a:t>
            </a:r>
          </a:p>
          <a:p>
            <a:pPr lvl="1">
              <a:defRPr sz="2000">
                <a:solidFill>
                  <a:srgbClr val="3C3C3C"/>
                </a:solidFill>
                <a:latin typeface="Calibri"/>
              </a:defRPr>
            </a:pPr>
            <a:r>
              <a:t>Manage orders (view all, update status, delete)</a:t>
            </a:r>
          </a:p>
          <a:p>
            <a:pPr>
              <a:defRPr sz="2200">
                <a:solidFill>
                  <a:srgbClr val="212121"/>
                </a:solidFill>
                <a:latin typeface="Calibri"/>
              </a:defRPr>
            </a:pPr>
            <a:r>
              <a:t>Admin pages are protected by authentication + role checks.</a:t>
            </a:r>
          </a:p>
        </p:txBody>
      </p:sp>
      <p:pic>
        <p:nvPicPr>
          <p:cNvPr id="6" name="Picture 5" descr="image9.png"/>
          <p:cNvPicPr>
            <a:picLocks noChangeAspect="1"/>
          </p:cNvPicPr>
          <p:nvPr/>
        </p:nvPicPr>
        <p:blipFill>
          <a:blip r:embed="rId3"/>
          <a:stretch>
            <a:fillRect/>
          </a:stretch>
        </p:blipFill>
        <p:spPr>
          <a:xfrm>
            <a:off x="7765073" y="1463040"/>
            <a:ext cx="2940732" cy="1600200"/>
          </a:xfrm>
          <a:prstGeom prst="rect">
            <a:avLst/>
          </a:prstGeom>
        </p:spPr>
      </p:pic>
      <p:pic>
        <p:nvPicPr>
          <p:cNvPr id="7" name="Picture 6" descr="image10.png"/>
          <p:cNvPicPr>
            <a:picLocks noChangeAspect="1"/>
          </p:cNvPicPr>
          <p:nvPr/>
        </p:nvPicPr>
        <p:blipFill>
          <a:blip r:embed="rId4"/>
          <a:stretch>
            <a:fillRect/>
          </a:stretch>
        </p:blipFill>
        <p:spPr>
          <a:xfrm>
            <a:off x="7743895" y="3154680"/>
            <a:ext cx="2983088" cy="1600200"/>
          </a:xfrm>
          <a:prstGeom prst="rect">
            <a:avLst/>
          </a:prstGeom>
        </p:spPr>
      </p:pic>
      <p:pic>
        <p:nvPicPr>
          <p:cNvPr id="8" name="Picture 7" descr="image11.png"/>
          <p:cNvPicPr>
            <a:picLocks noChangeAspect="1"/>
          </p:cNvPicPr>
          <p:nvPr/>
        </p:nvPicPr>
        <p:blipFill>
          <a:blip r:embed="rId5"/>
          <a:stretch>
            <a:fillRect/>
          </a:stretch>
        </p:blipFill>
        <p:spPr>
          <a:xfrm>
            <a:off x="7747664" y="4846320"/>
            <a:ext cx="2975551" cy="160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Implementation Highlights</a:t>
            </a:r>
          </a:p>
        </p:txBody>
      </p:sp>
      <p:sp>
        <p:nvSpPr>
          <p:cNvPr id="4" name="TextBox 3"/>
          <p:cNvSpPr txBox="1"/>
          <p:nvPr/>
        </p:nvSpPr>
        <p:spPr>
          <a:xfrm>
            <a:off x="548640" y="1234440"/>
            <a:ext cx="11094415" cy="457200"/>
          </a:xfrm>
          <a:prstGeom prst="rect">
            <a:avLst/>
          </a:prstGeom>
          <a:noFill/>
        </p:spPr>
        <p:txBody>
          <a:bodyPr wrap="none">
            <a:spAutoFit/>
          </a:bodyPr>
          <a:lstStyle/>
          <a:p>
            <a:r>
              <a:rPr sz="1800">
                <a:solidFill>
                  <a:srgbClr val="505050"/>
                </a:solidFill>
                <a:latin typeface="Calibri"/>
              </a:rPr>
              <a:t>End-to-end flow: UI → API → Controller → Database</a:t>
            </a:r>
          </a:p>
        </p:txBody>
      </p:sp>
      <p:sp>
        <p:nvSpPr>
          <p:cNvPr id="5" name="TextBox 4"/>
          <p:cNvSpPr txBox="1"/>
          <p:nvPr/>
        </p:nvSpPr>
        <p:spPr>
          <a:xfrm>
            <a:off x="822960" y="1508760"/>
            <a:ext cx="11155680" cy="5212080"/>
          </a:xfrm>
          <a:prstGeom prst="rect">
            <a:avLst/>
          </a:prstGeom>
          <a:noFill/>
        </p:spPr>
        <p:txBody>
          <a:bodyPr wrap="none">
            <a:spAutoFit/>
          </a:bodyPr>
          <a:lstStyle/>
          <a:p>
            <a:pPr>
              <a:defRPr sz="2100">
                <a:solidFill>
                  <a:srgbClr val="212121"/>
                </a:solidFill>
                <a:latin typeface="Calibri"/>
              </a:defRPr>
            </a:pPr>
            <a:r>
              <a:t>Frontend (React)</a:t>
            </a:r>
          </a:p>
          <a:p>
            <a:pPr lvl="1">
              <a:defRPr sz="1900">
                <a:solidFill>
                  <a:srgbClr val="3C3C3C"/>
                </a:solidFill>
                <a:latin typeface="Calibri"/>
              </a:defRPr>
            </a:pPr>
            <a:r>
              <a:t>Pages &amp; components (Register, Login, Cart, OrderForm, Admin pages)</a:t>
            </a:r>
          </a:p>
          <a:p>
            <a:pPr lvl="1">
              <a:defRPr sz="1900">
                <a:solidFill>
                  <a:srgbClr val="3C3C3C"/>
                </a:solidFill>
                <a:latin typeface="Calibri"/>
              </a:defRPr>
            </a:pPr>
            <a:r>
              <a:t>API layer (authApi / productApi / cartApi / orderApi)</a:t>
            </a:r>
          </a:p>
          <a:p>
            <a:pPr>
              <a:defRPr sz="2100">
                <a:solidFill>
                  <a:srgbClr val="212121"/>
                </a:solidFill>
                <a:latin typeface="Calibri"/>
              </a:defRPr>
            </a:pPr>
            <a:r>
              <a:t>Backend (Express)</a:t>
            </a:r>
          </a:p>
          <a:p>
            <a:pPr lvl="1">
              <a:defRPr sz="1900">
                <a:solidFill>
                  <a:srgbClr val="3C3C3C"/>
                </a:solidFill>
                <a:latin typeface="Calibri"/>
              </a:defRPr>
            </a:pPr>
            <a:r>
              <a:t>Routes: authRoutes, productRoutes, cartRoutes, orderRoutes</a:t>
            </a:r>
          </a:p>
          <a:p>
            <a:pPr lvl="1">
              <a:defRPr sz="1900">
                <a:solidFill>
                  <a:srgbClr val="3C3C3C"/>
                </a:solidFill>
                <a:latin typeface="Calibri"/>
              </a:defRPr>
            </a:pPr>
            <a:r>
              <a:t>Controllers validate input and perform CRUD with Mongoose models</a:t>
            </a:r>
          </a:p>
          <a:p>
            <a:pPr>
              <a:defRPr sz="2100">
                <a:solidFill>
                  <a:srgbClr val="212121"/>
                </a:solidFill>
                <a:latin typeface="Calibri"/>
              </a:defRPr>
            </a:pPr>
            <a:r>
              <a:t>Security</a:t>
            </a:r>
          </a:p>
          <a:p>
            <a:pPr lvl="1">
              <a:defRPr sz="1900">
                <a:solidFill>
                  <a:srgbClr val="3C3C3C"/>
                </a:solidFill>
                <a:latin typeface="Calibri"/>
              </a:defRPr>
            </a:pPr>
            <a:r>
              <a:t>JWT token expires (e.g., 1 hour) and is stored client-side</a:t>
            </a:r>
          </a:p>
          <a:p>
            <a:pPr lvl="1">
              <a:defRPr sz="1900">
                <a:solidFill>
                  <a:srgbClr val="3C3C3C"/>
                </a:solidFill>
                <a:latin typeface="Calibri"/>
              </a:defRPr>
            </a:pPr>
            <a:r>
              <a:t>Middleware for authenticateUser and admin authorization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Testing &amp; Demo Scenario</a:t>
            </a:r>
          </a:p>
        </p:txBody>
      </p:sp>
      <p:sp>
        <p:nvSpPr>
          <p:cNvPr id="4" name="TextBox 3"/>
          <p:cNvSpPr txBox="1"/>
          <p:nvPr/>
        </p:nvSpPr>
        <p:spPr>
          <a:xfrm>
            <a:off x="822960" y="1554480"/>
            <a:ext cx="11155680" cy="5303520"/>
          </a:xfrm>
          <a:prstGeom prst="rect">
            <a:avLst/>
          </a:prstGeom>
          <a:noFill/>
        </p:spPr>
        <p:txBody>
          <a:bodyPr wrap="none">
            <a:spAutoFit/>
          </a:bodyPr>
          <a:lstStyle/>
          <a:p>
            <a:pPr>
              <a:defRPr sz="2100">
                <a:solidFill>
                  <a:srgbClr val="212121"/>
                </a:solidFill>
                <a:latin typeface="Calibri"/>
              </a:defRPr>
            </a:pPr>
            <a:r>
              <a:t>Demo flow (Customer)</a:t>
            </a:r>
          </a:p>
          <a:p>
            <a:pPr lvl="1">
              <a:defRPr sz="1900">
                <a:solidFill>
                  <a:srgbClr val="3C3C3C"/>
                </a:solidFill>
                <a:latin typeface="Calibri"/>
              </a:defRPr>
            </a:pPr>
            <a:r>
              <a:t>Register → Login</a:t>
            </a:r>
          </a:p>
          <a:p>
            <a:pPr lvl="1">
              <a:defRPr sz="1900">
                <a:solidFill>
                  <a:srgbClr val="3C3C3C"/>
                </a:solidFill>
                <a:latin typeface="Calibri"/>
              </a:defRPr>
            </a:pPr>
            <a:r>
              <a:t>Browse by brand → open product details</a:t>
            </a:r>
          </a:p>
          <a:p>
            <a:pPr lvl="1">
              <a:defRPr sz="1900">
                <a:solidFill>
                  <a:srgbClr val="3C3C3C"/>
                </a:solidFill>
                <a:latin typeface="Calibri"/>
              </a:defRPr>
            </a:pPr>
            <a:r>
              <a:t>Add to cart → update qty/size/color</a:t>
            </a:r>
          </a:p>
          <a:p>
            <a:pPr lvl="1">
              <a:defRPr sz="1900">
                <a:solidFill>
                  <a:srgbClr val="3C3C3C"/>
                </a:solidFill>
                <a:latin typeface="Calibri"/>
              </a:defRPr>
            </a:pPr>
            <a:r>
              <a:t>Checkout → create order → view My Orders</a:t>
            </a:r>
          </a:p>
          <a:p>
            <a:pPr>
              <a:defRPr sz="2100">
                <a:solidFill>
                  <a:srgbClr val="212121"/>
                </a:solidFill>
                <a:latin typeface="Calibri"/>
              </a:defRPr>
            </a:pPr>
            <a:r>
              <a:t>Demo flow (Admin)</a:t>
            </a:r>
          </a:p>
          <a:p>
            <a:pPr lvl="1">
              <a:defRPr sz="1900">
                <a:solidFill>
                  <a:srgbClr val="3C3C3C"/>
                </a:solidFill>
                <a:latin typeface="Calibri"/>
              </a:defRPr>
            </a:pPr>
            <a:r>
              <a:t>Login as admin</a:t>
            </a:r>
          </a:p>
          <a:p>
            <a:pPr lvl="1">
              <a:defRPr sz="1900">
                <a:solidFill>
                  <a:srgbClr val="3C3C3C"/>
                </a:solidFill>
                <a:latin typeface="Calibri"/>
              </a:defRPr>
            </a:pPr>
            <a:r>
              <a:t>Add a product (with image upload) / edit / delete</a:t>
            </a:r>
          </a:p>
          <a:p>
            <a:pPr lvl="1">
              <a:defRPr sz="1900">
                <a:solidFill>
                  <a:srgbClr val="3C3C3C"/>
                </a:solidFill>
                <a:latin typeface="Calibri"/>
              </a:defRPr>
            </a:pPr>
            <a:r>
              <a:t>View all orders and update order status</a:t>
            </a:r>
          </a:p>
          <a:p>
            <a:pPr>
              <a:defRPr sz="2100">
                <a:solidFill>
                  <a:srgbClr val="212121"/>
                </a:solidFill>
                <a:latin typeface="Calibri"/>
              </a:defRPr>
            </a:pPr>
            <a:r>
              <a:t>Testing: manual UI tests + API verification (Postman) for main endpoints.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Challenges &amp; Future Improvements</a:t>
            </a:r>
          </a:p>
        </p:txBody>
      </p:sp>
      <p:sp>
        <p:nvSpPr>
          <p:cNvPr id="4" name="TextBox 3"/>
          <p:cNvSpPr txBox="1"/>
          <p:nvPr/>
        </p:nvSpPr>
        <p:spPr>
          <a:xfrm>
            <a:off x="822960" y="1645920"/>
            <a:ext cx="11155680" cy="5029200"/>
          </a:xfrm>
          <a:prstGeom prst="rect">
            <a:avLst/>
          </a:prstGeom>
          <a:noFill/>
        </p:spPr>
        <p:txBody>
          <a:bodyPr wrap="none">
            <a:spAutoFit/>
          </a:bodyPr>
          <a:lstStyle/>
          <a:p>
            <a:pPr>
              <a:defRPr sz="2200">
                <a:solidFill>
                  <a:srgbClr val="212121"/>
                </a:solidFill>
                <a:latin typeface="Calibri"/>
              </a:defRPr>
            </a:pPr>
            <a:r>
              <a:t>Challenges</a:t>
            </a:r>
          </a:p>
          <a:p>
            <a:pPr lvl="1">
              <a:defRPr sz="2000">
                <a:solidFill>
                  <a:srgbClr val="3C3C3C"/>
                </a:solidFill>
                <a:latin typeface="Calibri"/>
              </a:defRPr>
            </a:pPr>
            <a:r>
              <a:t>Designing a clean NoSQL structure for carts and orders</a:t>
            </a:r>
          </a:p>
          <a:p>
            <a:pPr lvl="1">
              <a:defRPr sz="2000">
                <a:solidFill>
                  <a:srgbClr val="3C3C3C"/>
                </a:solidFill>
                <a:latin typeface="Calibri"/>
              </a:defRPr>
            </a:pPr>
            <a:r>
              <a:t>Implementing authentication + role-based authorization</a:t>
            </a:r>
          </a:p>
          <a:p>
            <a:pPr lvl="1">
              <a:defRPr sz="2000">
                <a:solidFill>
                  <a:srgbClr val="3C3C3C"/>
                </a:solidFill>
                <a:latin typeface="Calibri"/>
              </a:defRPr>
            </a:pPr>
            <a:r>
              <a:t>Integrating third-party image hosting (Cloudinary)</a:t>
            </a:r>
          </a:p>
          <a:p>
            <a:pPr>
              <a:defRPr sz="2200">
                <a:solidFill>
                  <a:srgbClr val="212121"/>
                </a:solidFill>
                <a:latin typeface="Calibri"/>
              </a:defRPr>
            </a:pPr>
            <a:r>
              <a:t>Future improvements</a:t>
            </a:r>
          </a:p>
          <a:p>
            <a:pPr lvl="1">
              <a:defRPr sz="2000">
                <a:solidFill>
                  <a:srgbClr val="3C3C3C"/>
                </a:solidFill>
                <a:latin typeface="Calibri"/>
              </a:defRPr>
            </a:pPr>
            <a:r>
              <a:t>Integrate online payment (VNPay/Stripe)</a:t>
            </a:r>
          </a:p>
          <a:p>
            <a:pPr lvl="1">
              <a:defRPr sz="2000">
                <a:solidFill>
                  <a:srgbClr val="3C3C3C"/>
                </a:solidFill>
                <a:latin typeface="Calibri"/>
              </a:defRPr>
            </a:pPr>
            <a:r>
              <a:t>Search, sorting, and advanced filtering</a:t>
            </a:r>
          </a:p>
          <a:p>
            <a:pPr lvl="1">
              <a:defRPr sz="2000">
                <a:solidFill>
                  <a:srgbClr val="3C3C3C"/>
                </a:solidFill>
                <a:latin typeface="Calibri"/>
              </a:defRPr>
            </a:pPr>
            <a:r>
              <a:t>Analytics dashboard (sales, popular products)</a:t>
            </a:r>
          </a:p>
          <a:p>
            <a:pPr lvl="1">
              <a:defRPr sz="2000">
                <a:solidFill>
                  <a:srgbClr val="3C3C3C"/>
                </a:solidFill>
                <a:latin typeface="Calibri"/>
              </a:defRPr>
            </a:pPr>
            <a:r>
              <a:t>Email notifications for order updates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94415" cy="731520"/>
          </a:xfrm>
          <a:prstGeom prst="rect">
            <a:avLst/>
          </a:prstGeom>
          <a:noFill/>
        </p:spPr>
        <p:txBody>
          <a:bodyPr wrap="none">
            <a:spAutoFit/>
          </a:bodyPr>
          <a:lstStyle/>
          <a:p>
            <a:r>
              <a:rPr sz="3400" b="1">
                <a:solidFill>
                  <a:srgbClr val="212121"/>
                </a:solidFill>
                <a:latin typeface="Calibri"/>
              </a:rPr>
              <a:t>Conclusion &amp; Q&amp;A</a:t>
            </a:r>
          </a:p>
        </p:txBody>
      </p:sp>
      <p:sp>
        <p:nvSpPr>
          <p:cNvPr id="4" name="TextBox 3"/>
          <p:cNvSpPr txBox="1"/>
          <p:nvPr/>
        </p:nvSpPr>
        <p:spPr>
          <a:xfrm>
            <a:off x="822960" y="1737360"/>
            <a:ext cx="11155680" cy="4297680"/>
          </a:xfrm>
          <a:prstGeom prst="rect">
            <a:avLst/>
          </a:prstGeom>
          <a:noFill/>
        </p:spPr>
        <p:txBody>
          <a:bodyPr wrap="none">
            <a:spAutoFit/>
          </a:bodyPr>
          <a:lstStyle/>
          <a:p>
            <a:pPr>
              <a:defRPr sz="2600">
                <a:solidFill>
                  <a:srgbClr val="212121"/>
                </a:solidFill>
                <a:latin typeface="Calibri"/>
              </a:defRPr>
            </a:pPr>
            <a:r>
              <a:t>We delivered a functional full-stack e-commerce application using the MERN stack.</a:t>
            </a:r>
          </a:p>
          <a:p>
            <a:pPr>
              <a:defRPr sz="2600">
                <a:solidFill>
                  <a:srgbClr val="212121"/>
                </a:solidFill>
                <a:latin typeface="Calibri"/>
              </a:defRPr>
            </a:pPr>
            <a:r>
              <a:t>The system supports complete user shopping flow and an admin management dashboard.</a:t>
            </a:r>
          </a:p>
          <a:p>
            <a:pPr>
              <a:defRPr sz="2600">
                <a:solidFill>
                  <a:srgbClr val="212121"/>
                </a:solidFill>
                <a:latin typeface="Calibri"/>
              </a:defRPr>
            </a:pPr>
            <a:r>
              <a:t>Thank you for listening — we are happy to answer your questions.</a:t>
            </a:r>
          </a:p>
        </p:txBody>
      </p:sp>
      <p:sp>
        <p:nvSpPr>
          <p:cNvPr id="5" name="TextBox 4"/>
          <p:cNvSpPr txBox="1"/>
          <p:nvPr/>
        </p:nvSpPr>
        <p:spPr>
          <a:xfrm>
            <a:off x="822960" y="5760720"/>
            <a:ext cx="11155680" cy="822960"/>
          </a:xfrm>
          <a:prstGeom prst="rect">
            <a:avLst/>
          </a:prstGeom>
          <a:noFill/>
        </p:spPr>
        <p:txBody>
          <a:bodyPr wrap="none">
            <a:spAutoFit/>
          </a:bodyPr>
          <a:lstStyle/>
          <a:p>
            <a:pPr algn="ctr">
              <a:defRPr sz="4400" b="1">
                <a:solidFill>
                  <a:srgbClr val="2E7D32"/>
                </a:solidFill>
                <a:latin typeface="Calibri"/>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1582</Words>
  <Application>Microsoft Office PowerPoint</Application>
  <PresentationFormat>Widescreen</PresentationFormat>
  <Paragraphs>177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Đăng Khoa Nguyễn Huỳnh</dc:creator>
  <cp:keywords/>
  <dc:description>generated using python-pptx</dc:description>
  <cp:lastModifiedBy>NGUYEN HUYNH DANG KHOA</cp:lastModifiedBy>
  <cp:revision>2</cp:revision>
  <dcterms:created xsi:type="dcterms:W3CDTF">2013-01-27T09:14:16Z</dcterms:created>
  <dcterms:modified xsi:type="dcterms:W3CDTF">2025-12-27T15:49:45Z</dcterms:modified>
  <cp:category/>
</cp:coreProperties>
</file>